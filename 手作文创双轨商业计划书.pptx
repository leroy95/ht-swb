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457200"/>
            <a:ext cx="5029200" cy="5029200"/>
          </a:xfrm>
          <a:prstGeom prst="ellipse">
            <a:avLst/>
          </a:prstGeom>
          <a:solidFill>
            <a:srgbClr val="C9983E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1828800"/>
            <a:ext cx="3200400" cy="3200400"/>
          </a:xfrm>
          <a:prstGeom prst="ellipse">
            <a:avLst/>
          </a:prstGeom>
          <a:solidFill>
            <a:srgbClr val="0D7B6B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2651760"/>
            <a:ext cx="2286000" cy="0"/>
          </a:xfrm>
          <a:prstGeom prst="line">
            <a:avLst/>
          </a:prstGeom>
          <a:noFill/>
          <a:ln w="25400">
            <a:solidFill>
              <a:srgbClr val="C998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99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手作文创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双轨商业计划书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V2.1 · 详细版 · 2026.06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轨道A </a:t>
            </a:r>
            <a:pPr indent="0" marL="0">
              <a:buNone/>
            </a:pPr>
            <a:r>
              <a:rPr lang="en-US" sz="12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洪洞景区大众文创 · 15款精兵策略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8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轨道B </a:t>
            </a:r>
            <a:pPr indent="0" marL="0">
              <a:buNone/>
            </a:pPr>
            <a:r>
              <a:rPr lang="en-US" sz="1200" dirty="0">
                <a:solidFill>
                  <a:srgbClr val="C8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手工文创 · 3个入门品类 · 唐装配搭试点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首站：山西洪洞广胜寺 | 启动¥30,000 | 第5月打平 | 第10月现金流转正 | 完整落地执行手册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B5E7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内容导航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4400" y="7132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28页详解——从战略到执行，从财务到风险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137160"/>
            <a:ext cx="8595360" cy="0"/>
          </a:xfrm>
          <a:prstGeom prst="line">
            <a:avLst/>
          </a:prstGeom>
          <a:noFill/>
          <a:ln w="15240">
            <a:solidFill>
              <a:srgbClr val="E8E0D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1097280"/>
            <a:ext cx="85953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097280"/>
            <a:ext cx="54864" cy="530352"/>
          </a:xfrm>
          <a:prstGeom prst="rect">
            <a:avLst/>
          </a:prstGeom>
          <a:solidFill>
            <a:srgbClr val="C9983E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114300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战略层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737360" y="1143000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P3-5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377440" y="114300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竞品分析 · V2.0→V2.1变化 · 双轨战略全景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4320" y="1719072"/>
            <a:ext cx="85953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74320" y="1719072"/>
            <a:ext cx="54864" cy="530352"/>
          </a:xfrm>
          <a:prstGeom prst="rect">
            <a:avLst/>
          </a:prstGeom>
          <a:solidFill>
            <a:srgbClr val="C9983E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176479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轨道A·大众文创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737360" y="1764792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P6-11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377440" y="1764792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用户画像 · 15款产品 · 成本 · 供应链 · 渠道 · 营销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74320" y="2340864"/>
            <a:ext cx="85953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74320" y="2340864"/>
            <a:ext cx="54864" cy="530352"/>
          </a:xfrm>
          <a:prstGeom prst="rect">
            <a:avLst/>
          </a:prstGeom>
          <a:solidFill>
            <a:srgbClr val="0D7B6B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238658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轨道B·手工文创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737360" y="2386584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P12-16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377440" y="2386584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用户画像 · 3个入门品类 · 唐装配搭 · 渠道 · 营销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74320" y="2962656"/>
            <a:ext cx="85953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74320" y="2962656"/>
            <a:ext cx="54864" cy="530352"/>
          </a:xfrm>
          <a:prstGeom prst="rect">
            <a:avLst/>
          </a:prstGeom>
          <a:solidFill>
            <a:srgbClr val="1B5E7B"/>
          </a:solidFill>
          <a:ln/>
        </p:spPr>
      </p:sp>
      <p:sp>
        <p:nvSpPr>
          <p:cNvPr id="25" name="Text 22"/>
          <p:cNvSpPr/>
          <p:nvPr/>
        </p:nvSpPr>
        <p:spPr>
          <a:xfrm>
            <a:off x="457200" y="3008376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生产体系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737360" y="3008376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P17-19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2377440" y="3008376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双轨分工 · 妇女招募培训 · 品控薪酬 · 收入示例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274320" y="3584448"/>
            <a:ext cx="85953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274320" y="3584448"/>
            <a:ext cx="54864" cy="530352"/>
          </a:xfrm>
          <a:prstGeom prst="rect">
            <a:avLst/>
          </a:prstGeom>
          <a:solidFill>
            <a:srgbClr val="0D7B6B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363016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财务测算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737360" y="363016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P20-23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377440" y="3630168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启动资金 · 现金流12月 · V2.0 vs V2.1对比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274320" y="4206240"/>
            <a:ext cx="85953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274320" y="4206240"/>
            <a:ext cx="54864" cy="530352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25196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5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风险与执行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1737360" y="4251960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P24-27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2377440" y="425196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4大风险对策 · 90天清单 · 落地手册 · 下一步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983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项目速览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4400" y="7132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一页看懂：做什么 · 卖多少 · 赚多少 · 花多少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137160"/>
            <a:ext cx="8595360" cy="0"/>
          </a:xfrm>
          <a:prstGeom prst="line">
            <a:avLst/>
          </a:prstGeom>
          <a:noFill/>
          <a:ln w="15240">
            <a:solidFill>
              <a:srgbClr val="E8E0D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1097280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74320" y="1143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¥30,000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274320" y="1600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启动资金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468880" y="1097280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468880" y="1143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5E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15+3款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2468880" y="1600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轨A15款 + 轨B3个品类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63440" y="1097280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663440" y="1143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7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第5月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663440" y="1600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盈亏平衡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858000" y="1097280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858000" y="1143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5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¥11,500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858000" y="1600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第12月月利润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74320" y="2194560"/>
            <a:ext cx="41148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5720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轨道A · 大众文创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57200" y="2606040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15款产品·3档价格·首批备货¥15,760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工厂代工+妇女组装·先攻广胜寺1个景区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价格:¥5-198·毛利率:58-90%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盈亏平衡月销:¥42,000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启动金:¥22,000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663440" y="2194560"/>
            <a:ext cx="4206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84632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轨道B · 手工文创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846320" y="260604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3个入门品类·2款唐装配搭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石膏牌+香囊+蜡烛·1天-2周培训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全职家庭妇女手工·毛利率:74-89%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盈亏平衡月销:¥11,500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启动金:¥3,800(+生活费¥3,000)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首站:洪洞广胜寺 | 第1周可开始 | 前4月烧¥20,600(启动金撑得住) | 第10月投入全部收回 | 落地执行手册配套使用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B5E7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V2.0 → V2.1：关键优化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4400" y="7132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从理想版到务实版——10项核心变化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137160"/>
            <a:ext cx="8595360" cy="0"/>
          </a:xfrm>
          <a:prstGeom prst="line">
            <a:avLst/>
          </a:prstGeom>
          <a:noFill/>
          <a:ln w="15240">
            <a:solidFill>
              <a:srgbClr val="E8E0D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280160"/>
                <a:gridCol w="1463040"/>
                <a:gridCol w="42062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V2.0(理想)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V2.1(务实)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原因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轨道A产品数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50款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D7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15款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库存压死资金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轨道A启动金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¥29,000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D7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¥22,000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砍盲盒/雪糕/高起订量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轨道B品类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7大品类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D7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3个入门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法式刺绣培训8周等不了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唐装配搭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25款全品类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D7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2款试点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先做1家唐装店验证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第6月净利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¥10,000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D7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¥0-1,200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前半年打平就是胜利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第12月净利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¥35,000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D7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¥11,500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砍67%，更真实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自己生活费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❌没算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D7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¥3,000/月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最大漏项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现金流表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D7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12个月逐月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利润≠能花的钱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淡季预案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D7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4条策略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11-2月游客腰斩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竞品/风险/执行手册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D7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均已完善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知己知彼+落地操作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B5E7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竞品调研：洪洞景区现状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4400" y="7132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广胜寺/大槐树/苏三——文创几乎空白，第一个认真的就是品类定义者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137160"/>
            <a:ext cx="8595360" cy="0"/>
          </a:xfrm>
          <a:prstGeom prst="line">
            <a:avLst/>
          </a:prstGeom>
          <a:noFill/>
          <a:ln w="15240">
            <a:solidFill>
              <a:srgbClr val="E8E0D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1097280"/>
            <a:ext cx="8595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097280"/>
            <a:ext cx="8595360" cy="45720"/>
          </a:xfrm>
          <a:prstGeom prst="rect">
            <a:avLst/>
          </a:prstGeom>
          <a:solidFill>
            <a:srgbClr val="C9983E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1704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广胜寺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02920" y="144475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现有：普通明信片¥5-8·义乌钥匙扣¥15-20·杂牌琉璃摆件¥50-200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02920" y="167335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缺失：冰箱贴✗ 印章✗ 丝巾✗ 手账✗ 帆布袋✗ 金属书签✗ 贴纸✗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02920" y="19019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全是空白品类！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74320" y="2377440"/>
            <a:ext cx="8595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74320" y="2377440"/>
            <a:ext cx="8595360" cy="45720"/>
          </a:xfrm>
          <a:prstGeom prst="rect">
            <a:avLst/>
          </a:prstGeom>
          <a:solidFill>
            <a:srgbClr val="0D7B6B"/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" y="2450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7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大槐树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02920" y="27249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现有：粗糙钥匙扣¥10-20·印刷证书¥20-50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02920" y="29535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缺失：精刻姓氏钥匙扣·家谱卷轴·寻根手账·姓氏印章·祈福产品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02920" y="31821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寻根文化完全没被开发！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74320" y="3657600"/>
            <a:ext cx="8595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74320" y="3657600"/>
            <a:ext cx="8595360" cy="45720"/>
          </a:xfrm>
          <a:prstGeom prst="rect">
            <a:avLst/>
          </a:prstGeom>
          <a:solidFill>
            <a:srgbClr val="1B5E7B"/>
          </a:solidFill>
          <a:ln/>
        </p:spPr>
      </p:sp>
      <p:sp>
        <p:nvSpPr>
          <p:cNvPr id="22" name="Text 19"/>
          <p:cNvSpPr/>
          <p:nvPr/>
        </p:nvSpPr>
        <p:spPr>
          <a:xfrm>
            <a:off x="502920" y="3730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5E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苏三监狱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502920" y="40050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现有：几乎无文创产品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02920" y="42336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缺失：全国独一无二的戏曲IP——苏三起解·玉堂春·京剧文化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02920" y="4462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戏曲文创全国空白！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74320" y="42062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结论：洪洞文创 = 蓝海。故宫/敦煌/西安已经很卷了，洪洞几乎没人认真做。第一个人进场 = 品类定义者。窗口期：现在不做，别人就会来。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983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双轨并行战略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4400" y="7132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轨道A走量养团队 · 轨道B走质赚利润 · 两轨共用生产体系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137160"/>
            <a:ext cx="8595360" cy="0"/>
          </a:xfrm>
          <a:prstGeom prst="line">
            <a:avLst/>
          </a:prstGeom>
          <a:noFill/>
          <a:ln w="15240">
            <a:solidFill>
              <a:srgbClr val="E8E0D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1051560"/>
            <a:ext cx="42062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051560"/>
            <a:ext cx="4206240" cy="45720"/>
          </a:xfrm>
          <a:prstGeom prst="rect">
            <a:avLst/>
          </a:prstGeom>
          <a:solidFill>
            <a:srgbClr val="C9983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轨道A · 洪洞大众文创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48640" y="1600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「来都来了，带点回去」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48640" y="187452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用户：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小孩/学生/20-30岁女性/家庭游客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价格：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¥5-22随买 · ¥22-68伴手礼 · ¥68-198送礼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产品：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冰箱贴/书签/帆布袋/丝巾/手账/明信片/印章/贴纸/钥匙扣/卷轴/夜灯/礼盒 共15款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生产：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工厂代工(东莞/温州/义乌/杭州)+洪洞妇女分装组装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渠道：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广胜寺→大槐树→苏三→学校→拼多多→夜市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营销：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小红书日更·集章打卡·夜市加微信·本地号合作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启动：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¥22,000 · 毛利率58-90% · 盈亏平衡月销¥42,000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本质：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赚「人流量×转化率×客单价」的钱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663440" y="1051560"/>
            <a:ext cx="42062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63440" y="1051560"/>
            <a:ext cx="4206240" cy="45720"/>
          </a:xfrm>
          <a:prstGeom prst="rect">
            <a:avLst/>
          </a:prstGeom>
          <a:solidFill>
            <a:srgbClr val="0D7B6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18872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4924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7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轨道B · 手工文创+唐装配搭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937760" y="1600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「懂的人，愿意为手工买单」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937760" y="187452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用户：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高净值女性/唐装爱好者/汉服圈/企业送礼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价格：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¥38-238(手工品) · ¥88-598(唐装配搭)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首批产品：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石膏牌(1天)·香囊(2天)·蜡烛(1-2周)+发钗·压襟(试点)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生产：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洪洞本地家庭妇女全手工制作·品牌方设计+培训+质检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渠道：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小红书种草→私域成交·唐装店试点·汉服市集·企业礼品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营销：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制作过程视频·唐装搭配展示·文化科普·客户故事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启动：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¥3,800+生活费¥3,000·毛利率70-89%·月销¥11,500打平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本质：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赚「手艺×文化×信任」的钱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共用：第3月起招妇女→轨A半天培训(组装)·轨B 2天-2周培训(手工)→人才可选轨不强迫升级·每周六微信结算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983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轨道A · 用户画像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4400" y="7132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四类用户，四种决策逻辑，四个触达场景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137160"/>
            <a:ext cx="8595360" cy="0"/>
          </a:xfrm>
          <a:prstGeom prst="line">
            <a:avLst/>
          </a:prstGeom>
          <a:noFill/>
          <a:ln w="15240">
            <a:solidFill>
              <a:srgbClr val="E8E0D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82880" y="1097280"/>
            <a:ext cx="20574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82880" y="1097280"/>
            <a:ext cx="2057400" cy="45720"/>
          </a:xfrm>
          <a:prstGeom prst="rect">
            <a:avLst/>
          </a:prstGeom>
          <a:solidFill>
            <a:srgbClr val="C9983E"/>
          </a:solidFill>
          <a:ln/>
        </p:spPr>
      </p:sp>
      <p:sp>
        <p:nvSpPr>
          <p:cNvPr id="10" name="Text 7"/>
          <p:cNvSpPr/>
          <p:nvPr/>
        </p:nvSpPr>
        <p:spPr>
          <a:xfrm>
            <a:off x="182880" y="12344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🧒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274320" y="17830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小孩 5-12岁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74320" y="21031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预算 ¥10-50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20040" y="24688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跟家长出游·看到好看就要·家长买单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触达：景区商店（家长逛时小孩看中）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423160" y="1097280"/>
            <a:ext cx="20574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423160" y="1097280"/>
            <a:ext cx="2057400" cy="45720"/>
          </a:xfrm>
          <a:prstGeom prst="rect">
            <a:avLst/>
          </a:prstGeom>
          <a:solidFill>
            <a:srgbClr val="1B5E7B"/>
          </a:solidFill>
          <a:ln/>
        </p:spPr>
      </p:sp>
      <p:sp>
        <p:nvSpPr>
          <p:cNvPr id="16" name="Text 13"/>
          <p:cNvSpPr/>
          <p:nvPr/>
        </p:nvSpPr>
        <p:spPr>
          <a:xfrm>
            <a:off x="2423160" y="12344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🎒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2514600" y="17830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学生 13-22岁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514600" y="21031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预算 ¥15-80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560320" y="24688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发朋友圈/抖音·收集打卡·买给同学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触达：景区/学校周边/拼多多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663440" y="1097280"/>
            <a:ext cx="20574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663440" y="1097280"/>
            <a:ext cx="2057400" cy="45720"/>
          </a:xfrm>
          <a:prstGeom prst="rect">
            <a:avLst/>
          </a:prstGeom>
          <a:solidFill>
            <a:srgbClr val="0D7B6B"/>
          </a:solidFill>
          <a:ln/>
        </p:spPr>
      </p:sp>
      <p:sp>
        <p:nvSpPr>
          <p:cNvPr id="22" name="Text 19"/>
          <p:cNvSpPr/>
          <p:nvPr/>
        </p:nvSpPr>
        <p:spPr>
          <a:xfrm>
            <a:off x="4663440" y="12344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👩</a:t>
            </a:r>
            <a:endParaRPr lang="en-US" sz="3200" dirty="0"/>
          </a:p>
        </p:txBody>
      </p:sp>
      <p:sp>
        <p:nvSpPr>
          <p:cNvPr id="23" name="Text 20"/>
          <p:cNvSpPr/>
          <p:nvPr/>
        </p:nvSpPr>
        <p:spPr>
          <a:xfrm>
            <a:off x="4754880" y="17830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年轻女性 20-30岁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754880" y="21031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预算 ¥30-200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800600" y="24688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拍照好看·有设计感·能发小红书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触达：景区/小红书种草/淘宝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903720" y="1097280"/>
            <a:ext cx="20574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903720" y="1097280"/>
            <a:ext cx="2057400" cy="45720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28" name="Text 25"/>
          <p:cNvSpPr/>
          <p:nvPr/>
        </p:nvSpPr>
        <p:spPr>
          <a:xfrm>
            <a:off x="6903720" y="12344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👨‍👩‍👧</a:t>
            </a:r>
            <a:endParaRPr lang="en-US" sz="3200" dirty="0"/>
          </a:p>
        </p:txBody>
      </p:sp>
      <p:sp>
        <p:nvSpPr>
          <p:cNvPr id="29" name="Text 26"/>
          <p:cNvSpPr/>
          <p:nvPr/>
        </p:nvSpPr>
        <p:spPr>
          <a:xfrm>
            <a:off x="6995160" y="17830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家庭游客 30-50岁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995160" y="21031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预算 ¥50-300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7040880" y="24688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给全家各买一样·性价比优先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触达：景区主入口/出口商店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182880" y="3657600"/>
            <a:ext cx="8778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36576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痛点与机会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365760" y="39776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痛点：景区卖的文创粗制滥造+没什么设计+价格还不便宜。游客想带伴手礼→只有钥匙扣和明信片。年轻人想拍照→没什么可拍。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机会：用故宫/敦煌级别的设计力做洪洞专属文创。仿照集章/冰箱贴矩阵/国风配饰这些已验证的爆款模式。¥9.9也能买到有品质的东西。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983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轨道A · 15款产品（第一二档）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4400" y="7132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¥5-68价格带 · 10款走量主力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137160"/>
            <a:ext cx="8595360" cy="0"/>
          </a:xfrm>
          <a:prstGeom prst="line">
            <a:avLst/>
          </a:prstGeom>
          <a:noFill/>
          <a:ln w="15240">
            <a:solidFill>
              <a:srgbClr val="E8E0D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" y="1051560"/>
          <a:ext cx="89611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74320"/>
                <a:gridCol w="2560320"/>
                <a:gridCol w="548640"/>
                <a:gridCol w="548640"/>
                <a:gridCol w="502920"/>
                <a:gridCol w="685800"/>
                <a:gridCol w="15544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档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产品名称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售价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毛利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首批量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工厂来源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</a:tr>
              <a:tr h="256032">
                <a:tc rowSpan="5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第一档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随手买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¥5-22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飞虹塔贴纸包(10张)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温州印刷厂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祈福红绸带(大槐树)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¥0.5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500条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本地印字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飞虹塔明信片(单张投票款)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1000张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温州凸版印刷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姓氏亚克力钥匙扣(大槐树)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200个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1688亚克力定制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 vMerge="1">
                  <a:tcPr/>
                </a:tc>
                <a:tc rowSpan="7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第二档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伴手礼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¥22-68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2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飞虹塔金属冰箱贴(单枚)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¥38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200枚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东莞金属珐琅厂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建筑局部冰箱贴套装(4枚)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¥68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同上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飞虹塔金属书签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¥32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200枚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东莞金属蚀刻厂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金藏经文手账本(A6)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¥42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温州文具厂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壁画帆布袋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¥58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100个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义乌帆布袋厂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飞虹塔主题印章(散卖)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200枚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义乌印章厂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44805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第一档4款总备货¥2,150 · 第二档6款总备货¥7,400 → 前两档10款总备货金额¥9,550（控制在轨道A启动金50%以内，留足第三档和缓冲）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983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轨道A · 15款产品（第三档）+ 成本总表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4400" y="7132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¥68-198送礼收藏 · 5款拉客单价产品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137160"/>
            <a:ext cx="8595360" cy="0"/>
          </a:xfrm>
          <a:prstGeom prst="line">
            <a:avLst/>
          </a:prstGeom>
          <a:noFill/>
          <a:ln w="15240">
            <a:solidFill>
              <a:srgbClr val="E8E0D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" y="1051560"/>
          <a:ext cx="89611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74320"/>
                <a:gridCol w="2560320"/>
                <a:gridCol w="548640"/>
                <a:gridCol w="548640"/>
                <a:gridCol w="502920"/>
                <a:gridCol w="685800"/>
                <a:gridCol w="15544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档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产品名称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售价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毛利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首批量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工厂来源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</a:tr>
              <a:tr h="292608">
                <a:tc rowSpan="6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第三档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送礼收藏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¥68-198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明信片套装(8张烫金精装)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¥68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温州凸版印刷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丝巾(53cm仿真丝+飞天)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¥88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50条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杭州丝绸数码印花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三景礼盒(冻贴+书签+明信片)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¥32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组装配货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姓氏家谱卷轴(大槐树)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¥68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100个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温州印刷定制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飞虹塔纸雕小夜灯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¥98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50个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温州激光切割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182880" y="3017520"/>
            <a:ext cx="87782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65760" y="3063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15款备货总表 + 单品成本示例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65760" y="33649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第一档¥2,150 + 第二档¥7,400 + 第三档¥6,210 = 首批备货合计: ¥15,760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57200" y="3703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9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金属冰箱贴 ¥38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57200" y="38587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出厂¥4.5+包材¥1+运费¥0.25=¥5.75 → 自有渠道毛利84% · 景区30%分成后54%依然健康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457200" y="4114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9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壁画帆布袋 ¥58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57200" y="42702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出厂¥9+包材¥0.5+运费¥0.5=¥10 → 自有渠道毛利82%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457200" y="45262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9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丝巾(53cm) ¥88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57200" y="4681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出厂¥12+包材¥1+运费¥0.5=¥13.5 → 自有渠道毛利84%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36576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+设计费¥3,000(15款外包) + 包装首批¥2,000 + 产品拍摄¥1,000 = 轨A启动合计: ¥22,000（含缓冲¥3,000）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983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轨道A · 供应链管理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4400" y="7132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工厂代工+妇女组装——轻资产模式，首批15款分两批下单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137160"/>
            <a:ext cx="8595360" cy="0"/>
          </a:xfrm>
          <a:prstGeom prst="line">
            <a:avLst/>
          </a:prstGeom>
          <a:noFill/>
          <a:ln w="15240">
            <a:solidFill>
              <a:srgbClr val="E8E0D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463040"/>
                <a:gridCol w="731520"/>
                <a:gridCol w="822960"/>
                <a:gridCol w="22860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产品类型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核心工艺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工厂产地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起订量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交期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妇女做什么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金属冰箱贴/书签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锌合金压铸+珐琅填色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广东东莞/中山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200枚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15-20天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检验·装卡纸·入袋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凸版明信片/贴纸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凸版letterpress+烫金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浙江温州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100-200套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7-10天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分装套装·贴标签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丝巾(仿真丝)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数码印花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浙江杭州/苏州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50条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7-10天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手工卷边·折叠·入盒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帆布袋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丝网印/数码烫画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浙江义乌/温州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100个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10-15天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检验·折叠·入袋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手账本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皮面+烫金+装订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浙江温州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10-15天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检验·入袋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亚克力/印章/卷轴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激光刻字/橡胶模压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浙江义乌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100-500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7-15天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分装·组装·包装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274320" y="3657600"/>
            <a:ext cx="85953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57200" y="3703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分批下单策略（避免一次性掏空资金）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400507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第8周A批：冰箱贴(¥3,500)+书签(¥1,500)+明信片+贴纸(¥2,000)+手账本(¥800)=¥7,800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第9周开始到货→景区试销→有了销售数据和回款→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第11周B批：帆布袋(¥1,000)+丝巾(¥800)+印章(¥800)+大槐树品类(¥1,500)+纸雕灯+礼盒(¥1,860)=¥5,960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总首批¥13,760(比一次性下单省¥2,000现金流压力,且第一批数据指导第二批选品)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983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轨道A · 渠道策略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4400" y="7132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先攻广胜寺1个景区→验证成功后第4月复制大槐树→第5月苏三监狱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137160"/>
            <a:ext cx="8595360" cy="0"/>
          </a:xfrm>
          <a:prstGeom prst="line">
            <a:avLst/>
          </a:prstGeom>
          <a:noFill/>
          <a:ln w="15240">
            <a:solidFill>
              <a:srgbClr val="E8E0D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005840"/>
                <a:gridCol w="2011680"/>
                <a:gridCol w="3017520"/>
                <a:gridCol w="20116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阶段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时间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渠道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关键动作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预估月销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第1-3月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998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广胜寺景区（核心）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带15款样品+展架→谈分成25-30%→首月试销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¥5,000-12,000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第1月起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洪洞夜市（零门槛）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每周末摆摊·卖货+加微信·日销¥200-500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¥1,000-2,000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第2月起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拼多多+微信朋友圈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¥9.9-38品走拼多多·朋友圈推¥48+·朋友转介绍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¥2,000-5,000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第4月起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大槐树景区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广胜寺验证成功→复制模式·姓氏+大槐树IP为主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¥3,000-8,000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第5月起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苏三监狱+县城文具店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戏曲IP书签/明信片·文具店铺学生用品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¥2,000-4,000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第7月起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抖音小店+临汾其他景区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短视频带货·尧庙/华门/壶口瀑布复制模式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¥3,000-8,000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274320" y="3749040"/>
            <a:ext cx="8595360" cy="1188720"/>
          </a:xfrm>
          <a:prstGeom prst="rect">
            <a:avLst/>
          </a:prstGeom>
          <a:solidFill>
            <a:srgbClr val="F5E6C8">
              <a:alpha val="50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景区谈判关键话术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4069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话术：「景区现在卖的文创都是通用批发货，没有广胜寺专属设计。我们提供全套产品+展架+补货，卖出去才分成，你们零风险。」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分成底线：25%最佳→30%可接受→35%只放高利润品→40%+不做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谈判筹码：产品够好·零风险(不占资金)·能带动游客停留时间·我们已经在夜市验证了日销¥300-500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广胜寺日销估算：日均1500游客×30%进店×20%看文创×5%购买=日均4.5单×¥40客单价=月销¥5,400(保守)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983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轨道A · 营销（零预算+淡季预案）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4400" y="7132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前3月不花钱做内容·第4月投小钱放大·淡季4条应对策略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137160"/>
            <a:ext cx="8595360" cy="0"/>
          </a:xfrm>
          <a:prstGeom prst="line">
            <a:avLst/>
          </a:prstGeom>
          <a:noFill/>
          <a:ln w="15240">
            <a:solidFill>
              <a:srgbClr val="E8E0D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37160" y="1097280"/>
            <a:ext cx="21031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37160" y="1097280"/>
            <a:ext cx="2103120" cy="45720"/>
          </a:xfrm>
          <a:prstGeom prst="rect">
            <a:avLst/>
          </a:prstGeom>
          <a:solidFill>
            <a:srgbClr val="C9983E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📱 小红书日更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74320" y="1508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周一制作过程·周三产品细节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周五文化故事·周日生活随拍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前3月目标:500-1000粉丝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37160" y="2514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¥0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423160" y="1097280"/>
            <a:ext cx="21031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423160" y="1097280"/>
            <a:ext cx="2103120" cy="45720"/>
          </a:xfrm>
          <a:prstGeom prst="rect">
            <a:avLst/>
          </a:prstGeom>
          <a:solidFill>
            <a:srgbClr val="C9983E"/>
          </a:solidFill>
          <a:ln/>
        </p:spPr>
      </p:sp>
      <p:sp>
        <p:nvSpPr>
          <p:cNvPr id="15" name="Text 12"/>
          <p:cNvSpPr/>
          <p:nvPr/>
        </p:nvSpPr>
        <p:spPr>
          <a:xfrm>
            <a:off x="256032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📖 集章打卡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560320" y="1508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广胜寺设3个盖章点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卖集章护照本¥12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集满章送冰箱贴→游客自发传播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2423160" y="2514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¥0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09160" y="1097280"/>
            <a:ext cx="21031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09160" y="1097280"/>
            <a:ext cx="2103120" cy="45720"/>
          </a:xfrm>
          <a:prstGeom prst="rect">
            <a:avLst/>
          </a:prstGeom>
          <a:solidFill>
            <a:srgbClr val="C9983E"/>
          </a:solidFill>
          <a:ln/>
        </p:spPr>
      </p:sp>
      <p:sp>
        <p:nvSpPr>
          <p:cNvPr id="20" name="Text 17"/>
          <p:cNvSpPr/>
          <p:nvPr/>
        </p:nvSpPr>
        <p:spPr>
          <a:xfrm>
            <a:off x="484632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🌙 夜市加微信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46320" y="1508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每周末洪洞夜市摆摊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买文创加微信享9折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卖货+获客双目的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709160" y="2514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摊位¥50/次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995160" y="1097280"/>
            <a:ext cx="21031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995160" y="1097280"/>
            <a:ext cx="2103120" cy="45720"/>
          </a:xfrm>
          <a:prstGeom prst="rect">
            <a:avLst/>
          </a:prstGeom>
          <a:solidFill>
            <a:srgbClr val="C9983E"/>
          </a:solidFill>
          <a:ln/>
        </p:spPr>
      </p:sp>
      <p:sp>
        <p:nvSpPr>
          <p:cNvPr id="25" name="Text 22"/>
          <p:cNvSpPr/>
          <p:nvPr/>
        </p:nvSpPr>
        <p:spPr>
          <a:xfrm>
            <a:off x="713232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🤝 本地号合作(第4月)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132320" y="1508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找临汾3-5万粉抖音号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探店视频+文创植入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¥300-500/条,投5条测试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995160" y="2514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¥1,500-2,500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137160" y="3063240"/>
            <a:ext cx="886968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32004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淡季应对策略（11月-2月，春节除外）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11480" y="34747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9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线上发力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2103120" y="3474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小红书/抖音不受天气影响。淡季加大内容产出+投流。旺季积累的粉丝池在淡季激活。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846320" y="34747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9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礼品季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537960" y="3474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12月-1月=企业年礼+春节送礼高峰。推「飞虹塔祈福礼盒¥128」，企业批量采购不受天气限制。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411480" y="4114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9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轨B私域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2103120" y="4114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轨道B手工品全年复购。私域客户不受淡旺季影响。淡季集中交付定制单。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4846320" y="4114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9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开发新品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537960" y="4114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淡季设计新品类+培训新妇女。为来年5月旺季储备产能和产品线。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7B6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轨道B · 用户画像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4400" y="7132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四类高净值客群——不是「顺便买」而是「专门买」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137160"/>
            <a:ext cx="8595360" cy="0"/>
          </a:xfrm>
          <a:prstGeom prst="line">
            <a:avLst/>
          </a:prstGeom>
          <a:noFill/>
          <a:ln w="15240">
            <a:solidFill>
              <a:srgbClr val="E8E0D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37160" y="1097280"/>
            <a:ext cx="210312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37160" y="1097280"/>
            <a:ext cx="2103120" cy="45720"/>
          </a:xfrm>
          <a:prstGeom prst="rect">
            <a:avLst/>
          </a:prstGeom>
          <a:solidFill>
            <a:srgbClr val="0D7B6B"/>
          </a:solidFill>
          <a:ln/>
        </p:spPr>
      </p:sp>
      <p:sp>
        <p:nvSpPr>
          <p:cNvPr id="10" name="Text 7"/>
          <p:cNvSpPr/>
          <p:nvPr/>
        </p:nvSpPr>
        <p:spPr>
          <a:xfrm>
            <a:off x="137160" y="1188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👗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228600" y="1691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唐装/旗袍爱好者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28600" y="2103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35–55岁 · ¥200-2,000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74320" y="246888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高净值女性·老板娘·文化圈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参加活动搭配·日常需要精致配饰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触达：唐装店/旗袍定制店/中式活动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423160" y="1097280"/>
            <a:ext cx="210312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423160" y="1097280"/>
            <a:ext cx="2103120" cy="45720"/>
          </a:xfrm>
          <a:prstGeom prst="rect">
            <a:avLst/>
          </a:prstGeom>
          <a:solidFill>
            <a:srgbClr val="C9983E"/>
          </a:solidFill>
          <a:ln/>
        </p:spPr>
      </p:sp>
      <p:sp>
        <p:nvSpPr>
          <p:cNvPr id="16" name="Text 13"/>
          <p:cNvSpPr/>
          <p:nvPr/>
        </p:nvSpPr>
        <p:spPr>
          <a:xfrm>
            <a:off x="2423160" y="1188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🧘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2514600" y="1691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禅意生活追求者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514600" y="2103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9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28–45岁 · ¥168-980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560320" y="246888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都市白领·自由职业·全职妈妈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提升居家品质·仪式感·精神消费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触达：小红书/朋友圈/私域社群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709160" y="1097280"/>
            <a:ext cx="210312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09160" y="1097280"/>
            <a:ext cx="2103120" cy="45720"/>
          </a:xfrm>
          <a:prstGeom prst="rect">
            <a:avLst/>
          </a:prstGeom>
          <a:solidFill>
            <a:srgbClr val="1B5E7B"/>
          </a:solidFill>
          <a:ln/>
        </p:spPr>
      </p:sp>
      <p:sp>
        <p:nvSpPr>
          <p:cNvPr id="22" name="Text 19"/>
          <p:cNvSpPr/>
          <p:nvPr/>
        </p:nvSpPr>
        <p:spPr>
          <a:xfrm>
            <a:off x="4709160" y="1188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🎎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4800600" y="1691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汉服/国风圈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800600" y="2103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5E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18–30岁 · ¥128-598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846320" y="246888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大学生·年轻白领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汉服搭配·国风活动·同袍交流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触达：汉服社群/小红书/B站/汉服活动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995160" y="1097280"/>
            <a:ext cx="210312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995160" y="1097280"/>
            <a:ext cx="2103120" cy="45720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28" name="Text 25"/>
          <p:cNvSpPr/>
          <p:nvPr/>
        </p:nvSpPr>
        <p:spPr>
          <a:xfrm>
            <a:off x="6995160" y="1188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💝</a:t>
            </a:r>
            <a:endParaRPr lang="en-US" sz="3000" dirty="0"/>
          </a:p>
        </p:txBody>
      </p:sp>
      <p:sp>
        <p:nvSpPr>
          <p:cNvPr id="29" name="Text 26"/>
          <p:cNvSpPr/>
          <p:nvPr/>
        </p:nvSpPr>
        <p:spPr>
          <a:xfrm>
            <a:off x="7086600" y="1691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高端送礼人群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086600" y="2103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30–55岁 · ¥298-2,980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132320" y="246888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企业主·管理者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商务送礼·重要节日·体现品味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触达：私域/企业礼品定制/微信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37160" y="4160520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本质区别：大众用户「好看不贵买一个玩玩」vs 高端用户「手工做的？独一无二？——我要了」    轨道B用户为「手工温度」「文化深度」「独一无二」买单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7B6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轨道B · 首批3个入门品类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4400" y="7132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从入门起步——培训快·成本低·女工快上手·做错不心疼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137160"/>
            <a:ext cx="8595360" cy="0"/>
          </a:xfrm>
          <a:prstGeom prst="line">
            <a:avLst/>
          </a:prstGeom>
          <a:noFill/>
          <a:ln w="15240">
            <a:solidFill>
              <a:srgbClr val="E8E0D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097280"/>
          <a:ext cx="88696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  <a:gridCol w="548640"/>
                <a:gridCol w="731520"/>
                <a:gridCol w="685800"/>
                <a:gridCol w="777240"/>
                <a:gridCol w="640080"/>
                <a:gridCol w="777240"/>
                <a:gridCol w="8229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品类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工艺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学习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材料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手工费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售价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毛利率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妇女日产量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日收入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7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🪨 香薰石膏牌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调浆→灌模→脱模→穿绳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1天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¥3-5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¥38-58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30-50件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7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¥120-200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7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🧵 古法香囊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裁布→缝制→填香→收口→流苏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2天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¥10-15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¥68-98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12-16个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7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¥120-160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7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🕯️ 浮雕蜡烛(基础)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融蜡→入模→脱模→基础刻线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1-2周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¥15-22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¥168-238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3-5件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7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¥100-160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137160" y="2926080"/>
            <a:ext cx="5029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137160" y="2926080"/>
            <a:ext cx="5029200" cy="45720"/>
          </a:xfrm>
          <a:prstGeom prst="rect">
            <a:avLst/>
          </a:prstGeom>
          <a:solidFill>
            <a:srgbClr val="0D7B6B"/>
          </a:solidFill>
          <a:ln/>
        </p:spPr>
      </p:sp>
      <p:sp>
        <p:nvSpPr>
          <p:cNvPr id="11" name="Text 7"/>
          <p:cNvSpPr/>
          <p:nvPr/>
        </p:nvSpPr>
        <p:spPr>
          <a:xfrm>
            <a:off x="320040" y="2971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为什么是这三个？（不是法式刺绣/微钩）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20040" y="329184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法式刺绣: 培训8周→前2月无产出→女工没钱挣就跑了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微钩(#80线): 2%的人学得会→招20人也只有0.4人上手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植物染丝巾: 材料¥60-120→做错了成本太高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这三个品类共同优势: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材料成本低(做错不心疼)• 培训快(3天-2周)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有手工质感(不是工厂货)• 单品售价高(¥38-238)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适合拍照(小红书天然素材)• 唐装配搭属性(香囊=刚需)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349240" y="2926080"/>
            <a:ext cx="35204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349240" y="2926080"/>
            <a:ext cx="3520440" cy="45720"/>
          </a:xfrm>
          <a:prstGeom prst="rect">
            <a:avLst/>
          </a:prstGeom>
          <a:solidFill>
            <a:srgbClr val="0D7B6B"/>
          </a:solidFill>
          <a:ln/>
        </p:spPr>
      </p:sp>
      <p:sp>
        <p:nvSpPr>
          <p:cNvPr id="15" name="Text 11"/>
          <p:cNvSpPr/>
          <p:nvPr/>
        </p:nvSpPr>
        <p:spPr>
          <a:xfrm>
            <a:off x="553212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唐装配搭试点(2款)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532120" y="329184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D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琉璃发钗 ¥88-128
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UV树脂+珠光粉+钗杆·2天培训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古法香囊 ¥78-98
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缝制+中药香粉·2天培训
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先做1家关系好的唐装店
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放样品→观察1个月→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数据好→复制第2家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不好→换产品再试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7B6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唐装配搭 · 全景品类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4400" y="7132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25款配搭产品全览——头部·胸前·身上·手上·衣上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137160"/>
            <a:ext cx="8595360" cy="0"/>
          </a:xfrm>
          <a:prstGeom prst="line">
            <a:avLst/>
          </a:prstGeom>
          <a:noFill/>
          <a:ln w="15240">
            <a:solidFill>
              <a:srgbClr val="E8E0D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82880" y="1097280"/>
            <a:ext cx="87782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82880" y="1097280"/>
            <a:ext cx="8778240" cy="45720"/>
          </a:xfrm>
          <a:prstGeom prst="rect">
            <a:avLst/>
          </a:prstGeom>
          <a:solidFill>
            <a:srgbClr val="C9983E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12344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头部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280160" y="12344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珠绣发簪¥298·微钩发夹¥198·琉璃发钗¥128·真丝发箍¥258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82880" y="1874520"/>
            <a:ext cx="87782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82880" y="1874520"/>
            <a:ext cx="8778240" cy="45720"/>
          </a:xfrm>
          <a:prstGeom prst="rect">
            <a:avLst/>
          </a:prstGeom>
          <a:solidFill>
            <a:srgbClr val="0D7B6B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20116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7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胸前(核心)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280160" y="20116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珠绣压襟¥458·合香压襟¥298·微钩花项链¥298·植物染丝巾¥298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82880" y="2651760"/>
            <a:ext cx="87782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182880" y="2651760"/>
            <a:ext cx="8778240" cy="45720"/>
          </a:xfrm>
          <a:prstGeom prst="rect">
            <a:avLst/>
          </a:prstGeom>
          <a:solidFill>
            <a:srgbClr val="1B5E7B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27889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5E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身上配饰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80160" y="2788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法式胸针¥498·微钩胸针¥258·古法香囊¥168·琉璃包挂¥168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82880" y="3429000"/>
            <a:ext cx="87782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82880" y="3429000"/>
            <a:ext cx="8778240" cy="45720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22" name="Text 19"/>
          <p:cNvSpPr/>
          <p:nvPr/>
        </p:nvSpPr>
        <p:spPr>
          <a:xfrm>
            <a:off x="365760" y="35661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5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手上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280160" y="35661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微钩手链¥228·琉璃手串¥78·微钩戒指¥168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182880" y="4206240"/>
            <a:ext cx="87782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182880" y="4206240"/>
            <a:ext cx="8778240" cy="45720"/>
          </a:xfrm>
          <a:prstGeom prst="rect">
            <a:avLst/>
          </a:prstGeom>
          <a:solidFill>
            <a:srgbClr val="3D3D4F"/>
          </a:solidFill>
          <a:ln/>
        </p:spPr>
      </p:sp>
      <p:sp>
        <p:nvSpPr>
          <p:cNvPr id="26" name="Text 23"/>
          <p:cNvSpPr/>
          <p:nvPr/>
        </p:nvSpPr>
        <p:spPr>
          <a:xfrm>
            <a:off x="365760" y="43434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3D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衣上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280160" y="43434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手工盘扣¥88/对·手工流苏¥88·珠绣补子¥798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182880" y="3383280"/>
            <a:ext cx="50292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182880" y="3383280"/>
            <a:ext cx="5029200" cy="45720"/>
          </a:xfrm>
          <a:prstGeom prst="rect">
            <a:avLst/>
          </a:prstGeom>
          <a:solidFill>
            <a:srgbClr val="0D7B6B"/>
          </a:solidFill>
          <a:ln/>
        </p:spPr>
      </p:sp>
      <p:sp>
        <p:nvSpPr>
          <p:cNvPr id="30" name="Text 27"/>
          <p:cNvSpPr/>
          <p:nvPr/>
        </p:nvSpPr>
        <p:spPr>
          <a:xfrm>
            <a:off x="36576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唐装店合作：5步试点流程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365760" y="3840480"/>
            <a:ext cx="411480" cy="411480"/>
          </a:xfrm>
          <a:prstGeom prst="ellipse">
            <a:avLst/>
          </a:prstGeom>
          <a:solidFill>
            <a:srgbClr val="0D7B6B"/>
          </a:solidFill>
          <a:ln/>
        </p:spPr>
      </p:sp>
      <p:sp>
        <p:nvSpPr>
          <p:cNvPr id="32" name="Text 29"/>
          <p:cNvSpPr/>
          <p:nvPr/>
        </p:nvSpPr>
        <p:spPr>
          <a:xfrm>
            <a:off x="36576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45720" y="427939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找1家关系好的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唐装店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822960" y="384048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1325880" y="3840480"/>
            <a:ext cx="411480" cy="411480"/>
          </a:xfrm>
          <a:prstGeom prst="ellipse">
            <a:avLst/>
          </a:prstGeom>
          <a:solidFill>
            <a:srgbClr val="0D7B6B"/>
          </a:solidFill>
          <a:ln/>
        </p:spPr>
      </p:sp>
      <p:sp>
        <p:nvSpPr>
          <p:cNvPr id="36" name="Text 33"/>
          <p:cNvSpPr/>
          <p:nvPr/>
        </p:nvSpPr>
        <p:spPr>
          <a:xfrm>
            <a:off x="132588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1005840" y="427939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放发钗+香囊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样品(4-6件)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1783080" y="384048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2286000" y="3840480"/>
            <a:ext cx="411480" cy="411480"/>
          </a:xfrm>
          <a:prstGeom prst="ellipse">
            <a:avLst/>
          </a:prstGeom>
          <a:solidFill>
            <a:srgbClr val="0D7B6B"/>
          </a:solidFill>
          <a:ln/>
        </p:spPr>
      </p:sp>
      <p:sp>
        <p:nvSpPr>
          <p:cNvPr id="40" name="Text 37"/>
          <p:cNvSpPr/>
          <p:nvPr/>
        </p:nvSpPr>
        <p:spPr>
          <a:xfrm>
            <a:off x="228600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1965960" y="427939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观察1个月数据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(销量+客单价)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2743200" y="384048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3246120" y="3840480"/>
            <a:ext cx="411480" cy="411480"/>
          </a:xfrm>
          <a:prstGeom prst="ellipse">
            <a:avLst/>
          </a:prstGeom>
          <a:solidFill>
            <a:srgbClr val="0D7B6B"/>
          </a:solidFill>
          <a:ln/>
        </p:spPr>
      </p:sp>
      <p:sp>
        <p:nvSpPr>
          <p:cNvPr id="44" name="Text 41"/>
          <p:cNvSpPr/>
          <p:nvPr/>
        </p:nvSpPr>
        <p:spPr>
          <a:xfrm>
            <a:off x="324612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2926080" y="427939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好→复制第2家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3703320" y="384048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4206240" y="3840480"/>
            <a:ext cx="411480" cy="411480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48" name="Text 45"/>
          <p:cNvSpPr/>
          <p:nvPr/>
        </p:nvSpPr>
        <p:spPr>
          <a:xfrm>
            <a:off x="420624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3886200" y="427939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不好→换产品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换陈列再试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5394960" y="3383280"/>
            <a:ext cx="34747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5394960" y="3383280"/>
            <a:ext cx="3474720" cy="45720"/>
          </a:xfrm>
          <a:prstGeom prst="rect">
            <a:avLst/>
          </a:prstGeom>
          <a:solidFill>
            <a:srgbClr val="C9983E"/>
          </a:solidFill>
          <a:ln/>
        </p:spPr>
      </p:sp>
      <p:sp>
        <p:nvSpPr>
          <p:cNvPr id="52" name="Text 49"/>
          <p:cNvSpPr/>
          <p:nvPr/>
        </p:nvSpPr>
        <p:spPr>
          <a:xfrm>
            <a:off x="5577840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唐装配搭套装组合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5577840" y="3749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9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基础入门 ¥268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7223760" y="3749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发钗+手串+香囊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5577840" y="4023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9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经典搭配 ¥798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7223760" y="40233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合香压襟+胸针+丝巾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5577840" y="4297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9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新娘全套 ¥1,980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7223760" y="4297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发簪+压襟+手链+手包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577840" y="45720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9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禅意修行 ¥698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7223760" y="45720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合香压襟+香囊+手串+线香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7B6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轨道B · 渠道与营销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4400" y="7132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小红书0→1积累粉丝→私域转化→唐装店试点→企业礼品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137160"/>
            <a:ext cx="8595360" cy="0"/>
          </a:xfrm>
          <a:prstGeom prst="line">
            <a:avLst/>
          </a:prstGeom>
          <a:noFill/>
          <a:ln w="15240">
            <a:solidFill>
              <a:srgbClr val="E8E0D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463040"/>
                <a:gridCol w="914400"/>
                <a:gridCol w="2011680"/>
                <a:gridCol w="28346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渠道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定位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费用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适合品类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策略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7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小红书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内容种草→私域转化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全线展示型产品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制作过程视频+成品展示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微信私域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老客复购+定制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全线·尤其高价款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1v1服务+节日提醒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998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唐装店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线下精准渠道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分成25-30%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压襟/胸针/发饰/香囊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「买唐装+配饰」寄售制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汉服社群/国风活动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圈层渗透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摊位¥200-500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发饰/压襟/手链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现场试戴+加微信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中式婚礼策划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婚庆渠道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分成20-30%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新娘全套配饰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¥998-1,980套餐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企业礼品定制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批量利润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香道/丝巾礼盒/摆件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年底/中秋/开业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274320" y="3886200"/>
            <a:ext cx="8595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5720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内容营销四板斧 + 私域运营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42245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制作过程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4434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3小时做一枚胸针→展示工艺难度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2651760" y="42245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唐装搭配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651760" y="4434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旗袍+压襟才完整→场景化种草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4846320" y="42245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客户故事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846320" y="4434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外婆旧旗袍+芍药胸针→情感延续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7040880" y="42245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文化科普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7040880" y="4434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什么是压襟？→建立专业信任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B5E7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生产体系 · 妇女招募与培训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4400" y="7132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第3月起招人——有活了再招，招来就能挣钱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137160"/>
            <a:ext cx="8595360" cy="0"/>
          </a:xfrm>
          <a:prstGeom prst="line">
            <a:avLst/>
          </a:prstGeom>
          <a:noFill/>
          <a:ln w="15240">
            <a:solidFill>
              <a:srgbClr val="E8E0D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82880" y="1051560"/>
            <a:ext cx="43891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82880" y="1051560"/>
            <a:ext cx="4389120" cy="45720"/>
          </a:xfrm>
          <a:prstGeom prst="rect">
            <a:avLst/>
          </a:prstGeom>
          <a:solidFill>
            <a:srgbClr val="1B5E7B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1097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招募：在哪找·找什么样的人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1417320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渠道：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村委妇女主任→广胜寺周边3个村(最靠谱)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本地宝妈群/微信群(最快)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夜市摊位挂招募牌(零成本)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熟人介绍→介绍费¥50/人(最稳定)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条件：30-55岁女性·每天有3-4h空闲·家住洪洞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手稳不抖(让她试做一块石膏牌就知道)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爱干净(手工作品不能脏)·能坚持(前一周最难)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定位：前2个月不招人(自己做样品+发内容)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第3月起→轨A组装2-3人+轨B手工2-3人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754880" y="1051560"/>
            <a:ext cx="4206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051560"/>
            <a:ext cx="4206240" cy="45720"/>
          </a:xfrm>
          <a:prstGeom prst="rect">
            <a:avLst/>
          </a:prstGeom>
          <a:solidFill>
            <a:srgbClr val="1B5E7B"/>
          </a:solidFill>
          <a:ln/>
        </p:spPr>
      </p:sp>
      <p:sp>
        <p:nvSpPr>
          <p:cNvPr id="14" name="Text 11"/>
          <p:cNvSpPr/>
          <p:nvPr/>
        </p:nvSpPr>
        <p:spPr>
          <a:xfrm>
            <a:off x="493776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培训：不是学校，是「做中学」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937760" y="141732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第1周：品牌方自己做一批样品→拍好过程视频当教程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第2周：招募2-3人→集中培训2天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Day1:香薰石膏牌(最简单·建立信心)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Day2:古法香囊(有缝纫基础上手快)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第3周：妇女回家做→每天交5件→品牌方当天反馈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第4周：稳定后教蜡烛基础款(想学的学·不想的不强迫)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核心原则：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不搞「人才升级」→不强迫进阶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有人就喜欢做石膏牌¥200/天→她满意就行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想多挣的主动来问学蜡烛→双向选择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第一周只做简单品→建立信心+拿到第一笔手工费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182880" y="3337560"/>
            <a:ext cx="8778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182880" y="3337560"/>
            <a:ext cx="8778240" cy="45720"/>
          </a:xfrm>
          <a:prstGeom prst="rect">
            <a:avLst/>
          </a:prstGeom>
          <a:solidFill>
            <a:srgbClr val="1B5E7B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品控标准 · 结算制度 · 收入示例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65760" y="37033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品控：石膏牌正面无&gt;1mm气泡·香囊缝线整齐无外漏·蜡烛蜡面光滑无气泡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结算：每周六微信转账·不拖欠·当面点清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报废率≤5%(新手前2周放宽到10%)·超标扣材料费50%·连续3次不良→重新培训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收入示例(洪洞本地对比超市时薪¥12-15/饭店月薪¥2,500)：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张大姐(48岁)石膏牌：日产12件×¥10×20天=¥2,400+全勤质量奖¥360=月¥2,760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李二嫂(38岁)香囊+组装：香囊¥1,000+组装¥1,600+超产¥390=月¥2,990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王大姐(42岁)蜡烛：日产3件×¥40×20天=¥2,400·目标进阶后月入¥3,500-5,000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B5E7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生产体系 · 双轨分工 + 物料流转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4400" y="7132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轨A组装型(半天培训)·轨B创作型(2天-2周培训)·每周物料流转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137160"/>
            <a:ext cx="8595360" cy="0"/>
          </a:xfrm>
          <a:prstGeom prst="line">
            <a:avLst/>
          </a:prstGeom>
          <a:noFill/>
          <a:ln w="15240">
            <a:solidFill>
              <a:srgbClr val="E8E0D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82880" y="1051560"/>
            <a:ext cx="43891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82880" y="1051560"/>
            <a:ext cx="4389120" cy="45720"/>
          </a:xfrm>
          <a:prstGeom prst="rect">
            <a:avLst/>
          </a:prstGeom>
          <a:solidFill>
            <a:srgbClr val="C9983E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轨道A · 组装型工作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65760" y="146304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内容：分装·检验·入袋·贴标签·入盒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技能：识字·细心·手不抖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培训：半天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薪酬：¥2-5/件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日产量：30-80件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日收入：¥60-200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月收入：¥1,200-4,000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1051560"/>
            <a:ext cx="4206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051560"/>
            <a:ext cx="4206240" cy="45720"/>
          </a:xfrm>
          <a:prstGeom prst="rect">
            <a:avLst/>
          </a:prstGeom>
          <a:solidFill>
            <a:srgbClr val="0D7B6B"/>
          </a:solidFill>
          <a:ln/>
        </p:spPr>
      </p:sp>
      <p:sp>
        <p:nvSpPr>
          <p:cNvPr id="14" name="Text 11"/>
          <p:cNvSpPr/>
          <p:nvPr/>
        </p:nvSpPr>
        <p:spPr>
          <a:xfrm>
            <a:off x="493776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轨道B · 创作型工作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937760" y="146304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内容：全手工制作(石膏牌/香囊/蜡烛/发钗)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技能：手工基础·耐心·审美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培训：2天-2周(分品类)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薪酬：¥4-20/件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日产量：3-50件(分品类)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日收入：¥100-250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月收入：¥2,000-5,000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82880" y="3337560"/>
            <a:ext cx="8778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182880" y="3337560"/>
            <a:ext cx="8778240" cy="45720"/>
          </a:xfrm>
          <a:prstGeom prst="rect">
            <a:avLst/>
          </a:prstGeom>
          <a:solidFill>
            <a:srgbClr val="1B5E7B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每周物料流转流程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274320" y="3749040"/>
            <a:ext cx="411480" cy="411480"/>
          </a:xfrm>
          <a:prstGeom prst="ellipse">
            <a:avLst/>
          </a:prstGeom>
          <a:solidFill>
            <a:srgbClr val="1B5E7B"/>
          </a:solidFill>
          <a:ln/>
        </p:spPr>
      </p:sp>
      <p:sp>
        <p:nvSpPr>
          <p:cNvPr id="20" name="Text 17"/>
          <p:cNvSpPr/>
          <p:nvPr/>
        </p:nvSpPr>
        <p:spPr>
          <a:xfrm>
            <a:off x="27432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5720" y="42062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周一：品牌方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在微信群发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本周订单表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749808" y="37490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2011680" y="3749040"/>
            <a:ext cx="411480" cy="411480"/>
          </a:xfrm>
          <a:prstGeom prst="ellipse">
            <a:avLst/>
          </a:prstGeom>
          <a:solidFill>
            <a:srgbClr val="1B5E7B"/>
          </a:solidFill>
          <a:ln/>
        </p:spPr>
      </p:sp>
      <p:sp>
        <p:nvSpPr>
          <p:cNvPr id="24" name="Text 21"/>
          <p:cNvSpPr/>
          <p:nvPr/>
        </p:nvSpPr>
        <p:spPr>
          <a:xfrm>
            <a:off x="201168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783080" y="42062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周一下午：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小组长领料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(材料+工具)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2487168" y="37490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3749040" y="3749040"/>
            <a:ext cx="411480" cy="411480"/>
          </a:xfrm>
          <a:prstGeom prst="ellipse">
            <a:avLst/>
          </a:prstGeom>
          <a:solidFill>
            <a:srgbClr val="1B5E7B"/>
          </a:solidFill>
          <a:ln/>
        </p:spPr>
      </p:sp>
      <p:sp>
        <p:nvSpPr>
          <p:cNvPr id="28" name="Text 25"/>
          <p:cNvSpPr/>
          <p:nvPr/>
        </p:nvSpPr>
        <p:spPr>
          <a:xfrm>
            <a:off x="374904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520440" y="42062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周二-周四：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妇女在家做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每天拍照打卡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224528" y="37490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486400" y="3749040"/>
            <a:ext cx="411480" cy="411480"/>
          </a:xfrm>
          <a:prstGeom prst="ellipse">
            <a:avLst/>
          </a:prstGeom>
          <a:solidFill>
            <a:srgbClr val="1B5E7B"/>
          </a:solidFill>
          <a:ln/>
        </p:spPr>
      </p:sp>
      <p:sp>
        <p:nvSpPr>
          <p:cNvPr id="32" name="Text 29"/>
          <p:cNvSpPr/>
          <p:nvPr/>
        </p:nvSpPr>
        <p:spPr>
          <a:xfrm>
            <a:off x="548640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5257800" y="42062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周五下午：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小组长收齐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送交品牌方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5961888" y="37490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7223760" y="3749040"/>
            <a:ext cx="411480" cy="411480"/>
          </a:xfrm>
          <a:prstGeom prst="ellipse">
            <a:avLst/>
          </a:prstGeom>
          <a:solidFill>
            <a:srgbClr val="1B5E7B"/>
          </a:solidFill>
          <a:ln/>
        </p:spPr>
      </p:sp>
      <p:sp>
        <p:nvSpPr>
          <p:cNvPr id="36" name="Text 33"/>
          <p:cNvSpPr/>
          <p:nvPr/>
        </p:nvSpPr>
        <p:spPr>
          <a:xfrm>
            <a:off x="722376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6995160" y="42062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周六上午：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品牌方质检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微信结算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7B6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生产体系 · 妇女收入详解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4400" y="7132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洪洞本地对比：在家做手工收入不低，时间还自由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137160"/>
            <a:ext cx="8595360" cy="0"/>
          </a:xfrm>
          <a:prstGeom prst="line">
            <a:avLst/>
          </a:prstGeom>
          <a:noFill/>
          <a:ln w="15240">
            <a:solidFill>
              <a:srgbClr val="E8E0D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097280"/>
          <a:ext cx="88696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14400"/>
                <a:gridCol w="914400"/>
                <a:gridCol w="914400"/>
                <a:gridCol w="1097280"/>
                <a:gridCol w="1097280"/>
                <a:gridCol w="1097280"/>
                <a:gridCol w="7315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品类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单件手工费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日产量(4h)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日收入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月收入(20天)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+全勤质量奖15%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月总收入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培训时间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石膏牌(轨B)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30-50件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¥120-200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¥2,400-4,000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¥360-600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7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¥2,760-4,600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1天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香囊(轨B)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12-16个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¥120-160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¥2,400-3,200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¥360-480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7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¥2,760-3,680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2天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蜡烛基础(轨B)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3-5件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¥60-100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¥1,200-2,000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¥180-300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7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¥1,380-2,300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1-2周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蜡烛精细(轨B进阶)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2-3件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¥80-120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¥1,600-2,400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¥240-360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7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¥1,840-2,760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3-6周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轨A组装/分装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¥2-5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30-80件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¥60-200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¥1,200-4,000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¥180-600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7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¥1,380-4,600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半天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137160" y="3474720"/>
            <a:ext cx="88696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137160" y="3474720"/>
            <a:ext cx="8869680" cy="45720"/>
          </a:xfrm>
          <a:prstGeom prst="rect">
            <a:avLst/>
          </a:prstGeom>
          <a:solidFill>
            <a:srgbClr val="1B5E7B"/>
          </a:solidFill>
          <a:ln/>
        </p:spPr>
      </p:sp>
      <p:sp>
        <p:nvSpPr>
          <p:cNvPr id="11" name="Text 7"/>
          <p:cNvSpPr/>
          <p:nvPr/>
        </p:nvSpPr>
        <p:spPr>
          <a:xfrm>
            <a:off x="32004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洪洞本地收入对比 + 激励制度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20040" y="3794760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对比：超市收银时薪¥12-15(月¥1,920-2,400)·饭店服务员月薪¥2,500·工厂普工月薪¥3,000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妇女在家做手工，月入¥2,000-4,600，不低且时间自由，不用通勤，还能兼顾家庭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激励制度：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①月度全勤奖+10% ②质量之星无返工+5% ③超产20%部分+15% ④带新伯乐奖¥200/人 ⑤技能进阶基础手工费+30%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每月评1-2名「月度优秀女工」额外¥200+奖品(产品礼盒/丝巾等)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7B6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启动资金完整明细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4400" y="7132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总预算¥30,000 · 轨A ¥22,760 · 轨B ¥3,800 · 生活费¥3,000 · 缓冲¥440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137160"/>
            <a:ext cx="8595360" cy="0"/>
          </a:xfrm>
          <a:prstGeom prst="line">
            <a:avLst/>
          </a:prstGeom>
          <a:noFill/>
          <a:ln w="15240">
            <a:solidFill>
              <a:srgbClr val="E8E0D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371600"/>
                <a:gridCol w="1371600"/>
                <a:gridCol w="12801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类别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轨道A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轨道B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合计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花费时间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产品设计(外包15款)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¥3,000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¥3,000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第5周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首批备货/材料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¥15,760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¥1,500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¥17,260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第1/8/11周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包装盒/袋/背卡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¥2,000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¥800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¥2,800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第7/10周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产品拍摄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¥2,000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第2/6周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初创杂费(物流/打样/交通)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¥500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¥1,500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各周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小计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998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¥22,760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7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¥3,800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¥26,560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创始人生存费(前3月)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¥3,000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月均¥1,000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机动储备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¥440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应急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总计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¥30,000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274320" y="4343400"/>
            <a:ext cx="8595360" cy="45720"/>
          </a:xfrm>
          <a:prstGeom prst="rect">
            <a:avLst/>
          </a:prstGeom>
          <a:solidFill>
            <a:srgbClr val="0D7B6B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前12周累计支出曲线：第4周¥4,350→第8周¥17,700→第10周¥23,550→第12周¥26,050 | 第12周余额¥3,950=第13周后运营金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B5E7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现金流12个月逐月预测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4400" y="7132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🔴前4月烧¥20,600→🟡第5月打平→🟢第6月赚钱→🟢第10月累计转正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137160"/>
            <a:ext cx="8595360" cy="0"/>
          </a:xfrm>
          <a:prstGeom prst="line">
            <a:avLst/>
          </a:prstGeom>
          <a:noFill/>
          <a:ln w="15240">
            <a:solidFill>
              <a:srgbClr val="E8E0D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822960"/>
                <a:gridCol w="822960"/>
                <a:gridCol w="822960"/>
                <a:gridCol w="914400"/>
                <a:gridCol w="1097280"/>
                <a:gridCol w="11887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月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轨A销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轨B销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合计入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月支出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净现金流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累计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¥500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¥500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¥8,300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-¥7,800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-¥7,800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¥1,500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¥1,500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¥8,300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-¥6,800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-¥14,600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¥3,000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¥3,000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¥6,000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¥10,000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-¥4,000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-¥18,600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¥6,000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¥4,000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¥10,000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¥12,000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-¥2,000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-¥20,600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¥8,000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¥5,000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¥13,000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¥13,000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5E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-¥20,600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¥10,000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¥6,000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¥16,000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¥14,800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D7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+¥1,200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-¥19,400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¥12,000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¥7,000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¥19,000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¥16,000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D7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+¥3,000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-¥16,400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¥14,000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¥9,000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¥23,000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¥18,000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D7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+¥5,000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-¥11,400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¥16,000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¥11,000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¥27,000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¥20,000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D7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+¥7,000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-¥4,400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¥18,000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¥13,000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¥31,000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¥22,000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7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+¥9,000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D7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▶+¥4,600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¥20,000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¥15,000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¥35,000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¥25,000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7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+¥10,000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D7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▶+¥14,600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¥22,000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¥18,000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¥40,000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¥28,500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7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+¥11,500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D7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▶+¥26,100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274320" y="4572000"/>
            <a:ext cx="8595360" cy="45720"/>
          </a:xfrm>
          <a:prstGeom prst="rect">
            <a:avLst/>
          </a:prstGeom>
          <a:solidFill>
            <a:srgbClr val="1B5E7B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45902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关键解读：前4月持续亏损(累计-¥20,600)→第5月打平(心里关口)→第6月首盈→第10月累计现金流转正(之前投入全部收回)→12月总净现金流+¥26,100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B5E7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盈利预测对比 V2.0 vs V2.1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4400" y="7132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不是悲观——是诚实。砍半的目标更容易超额完成。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137160"/>
            <a:ext cx="8595360" cy="0"/>
          </a:xfrm>
          <a:prstGeom prst="line">
            <a:avLst/>
          </a:prstGeom>
          <a:noFill/>
          <a:ln w="15240">
            <a:solidFill>
              <a:srgbClr val="E8E0D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" y="1051560"/>
          <a:ext cx="8961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1645920"/>
                <a:gridCol w="822960"/>
                <a:gridCol w="38404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指标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V2.0(理想版)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V2.1(务实版)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差距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说明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8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总启动资金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¥41,500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7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¥30,000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↓28%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轨A砍30款+轨B砍4品类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轨A产品数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50款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7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15款(精兵)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↓70%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首批50款库存压死资金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轨B首批品类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7大品类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7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3个入门(1天-2周)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↓57%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法式刺绣/微钩推迟到第7月+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唐装配搭产品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25款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7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2款起步试点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↓92%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先做1家验证再扩展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第5月净利润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5E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¥0(打平)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↓100%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前半年打平=胜利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第12月月利润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998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¥35,000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7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¥11,500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↓67%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砍半更真实可靠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第12月月销额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¥130,000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7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¥40,000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↓69%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新品牌¥4万/月已很不错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现金流转正时间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没算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7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第10个月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现金流比利润重要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12月总净现金流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没算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7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+¥26,100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全链条现金预测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自己生活费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完全漏算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05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¥3,000/月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V2.0最大的致命漏项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7B6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盈亏平衡分析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4400" y="7132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轨A：月固定¥25,000÷60%毛利=月销¥42,000 | 轨B：月固定¥8,000÷70%=月销¥11,500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137160"/>
            <a:ext cx="8595360" cy="0"/>
          </a:xfrm>
          <a:prstGeom prst="line">
            <a:avLst/>
          </a:prstGeom>
          <a:noFill/>
          <a:ln w="15240">
            <a:solidFill>
              <a:srgbClr val="E8E0D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82880" y="1097280"/>
            <a:ext cx="42976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82880" y="1097280"/>
            <a:ext cx="4297680" cy="45720"/>
          </a:xfrm>
          <a:prstGeom prst="rect">
            <a:avLst/>
          </a:prstGeom>
          <a:solidFill>
            <a:srgbClr val="C9983E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轨道A · 盈亏平衡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65760" y="150876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月固定支出项目：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材料采购: ¥5,000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手工费: ¥3,000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包装: ¥1,500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物流快递: ¥1,000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营销推广: ¥2,000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设计外包(持续): ¥1,500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杂费: ¥1,000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分摊生活费: ¥1,000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月固定支出合计: ¥16,000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平均毛利率: 60%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盈亏平衡月销: ¥16,000÷60%=¥26,700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达成路径: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广胜寺日销15件×¥45=¥675/天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大槐树日销10件×¥35=¥350/天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夜市周销¥600=月¥2,400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线上月销¥4,000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合计月销: ¥27,450 ✅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663440" y="1097280"/>
            <a:ext cx="42976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1097280"/>
            <a:ext cx="4297680" cy="45720"/>
          </a:xfrm>
          <a:prstGeom prst="rect">
            <a:avLst/>
          </a:prstGeom>
          <a:solidFill>
            <a:srgbClr val="0D7B6B"/>
          </a:solidFill>
          <a:ln/>
        </p:spPr>
      </p:sp>
      <p:sp>
        <p:nvSpPr>
          <p:cNvPr id="14" name="Text 11"/>
          <p:cNvSpPr/>
          <p:nvPr/>
        </p:nvSpPr>
        <p:spPr>
          <a:xfrm>
            <a:off x="484632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7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轨道B · 盈亏平衡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846320" y="150876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月固定支出项目：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手工材料: ¥2,000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妇女手工费: ¥2,500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包装: ¥800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物流快递: ¥500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营销推广: ¥1,000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杂费: ¥500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分摊生活费: ¥1,000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月固定支出合计: ¥8,300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平均毛利率: 70%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盈亏平衡月销: ¥8,300÷70%=¥11,857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达成路径: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30个压襟×¥458=¥13,740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+ 25个蜡烛×¥238=¥5,950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月销¥19,690 ✅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或: 60条丝巾×¥298=¥17,880 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或: 50个石膏牌+40个香囊+25个蜡烛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月销¥12,000+ ✅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82880" y="3840480"/>
            <a:ext cx="8778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182880" y="3840480"/>
            <a:ext cx="8778240" cy="45720"/>
          </a:xfrm>
          <a:prstGeom prst="rect">
            <a:avLst/>
          </a:prstGeom>
          <a:solidFill>
            <a:srgbClr val="1B5E7B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3886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两轨合计月度盈亏平衡：轨A ¥26,700 + 轨B ¥11,857 = 合计约¥38,557 → 第4-5月可达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65760" y="41605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月度收入结构(第6月目标)：轨A景区¥10,000+轨A线上¥4,000+轨A夜市¥2,000+轨B手工¥6,000=¥22,000 → 净利润¥2,200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月度收入结构(第12月目标)：轨A景区¥14,000+轨A线上¥6,000+轨A夜市¥2,000+轨B手工¥10,000+轨B唐装¥5,000+轨B企业礼品¥3,000=¥40,000 → 净利润¥11,500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0504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风险分析与对策（上）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4400" y="7132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承认风险、准备好预案——四个最大的风险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137160"/>
            <a:ext cx="8595360" cy="0"/>
          </a:xfrm>
          <a:prstGeom prst="line">
            <a:avLst/>
          </a:prstGeom>
          <a:noFill/>
          <a:ln w="15240">
            <a:solidFill>
              <a:srgbClr val="E8E0D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82880" y="1097280"/>
            <a:ext cx="8778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82880" y="1097280"/>
            <a:ext cx="8778240" cy="45720"/>
          </a:xfrm>
          <a:prstGeom prst="rect">
            <a:avLst/>
          </a:prstGeom>
          <a:solidFill>
            <a:srgbClr val="C9983E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1143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🏪 景区谈不下来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0" y="11704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概率30-40%·轨A走量缺失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65760" y="138988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A:先摆夜市验证产品力→拿夜市数据再谈(「夜市日销¥500，放你景区只会更高」)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B:全力攻线上+学校渠道(拼多多+抖音小店+文具店，加起来不一定少)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C:找景区个体商户(决策快·分成20-25%·比官方店好谈)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182880" y="2103120"/>
            <a:ext cx="8778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82880" y="2103120"/>
            <a:ext cx="8778240" cy="45720"/>
          </a:xfrm>
          <a:prstGeom prst="rect">
            <a:avLst/>
          </a:prstGeom>
          <a:solidFill>
            <a:srgbClr val="1B5E7B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" y="2148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❄️ 淡季游客腰斩(11-2月)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0" y="21762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确定·轨A月销掉到¥5,000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65760" y="2395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①线上不受天气影响→淡季加大内容产出+投流(小红书/抖音/拼多多)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②12-1月=企业年礼+春节礼品高峰→推「飞虹塔祈福礼盒¥128」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③轨道B私域全年复购不受淡季影响·淡季集中交付定制单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④淡季开发新品+培训新妇女→为来年5月旺季储备产能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82880" y="3108960"/>
            <a:ext cx="8778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82880" y="3108960"/>
            <a:ext cx="8778240" cy="45720"/>
          </a:xfrm>
          <a:prstGeom prst="rect">
            <a:avLst/>
          </a:prstGeom>
          <a:solidFill>
            <a:srgbClr val="0D7B6B"/>
          </a:solidFill>
          <a:ln/>
        </p:spPr>
      </p:sp>
      <p:sp>
        <p:nvSpPr>
          <p:cNvPr id="20" name="Text 17"/>
          <p:cNvSpPr/>
          <p:nvPr/>
        </p:nvSpPr>
        <p:spPr>
          <a:xfrm>
            <a:off x="365760" y="3154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👩 招不到/留不住妇女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0" y="31821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概率20%·轨B产能受限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365760" y="34015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①前2月不招人(自己先做，第3月有活再招)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②第一周只让做石膏牌(最简单→当天拿到成品+第一笔手工费→建立信心)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③每周六准时微信转账·不拖欠·新手报废率放宽到10%给容错空间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④允许弹性产量·不强求每天做多少·有单就做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182880" y="4114800"/>
            <a:ext cx="8778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182880" y="4114800"/>
            <a:ext cx="8778240" cy="45720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25" name="Text 22"/>
          <p:cNvSpPr/>
          <p:nvPr/>
        </p:nvSpPr>
        <p:spPr>
          <a:xfrm>
            <a:off x="365760" y="4160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第一批货卖不动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572000" y="4187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概率中等·库存积压¥3,000-5,000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365760" y="44074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①首批只要200件/款→卖不动也只压几千块(不是致命伤)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②夜市降价清库存(¥38降到¥25保本出)→回笼现金比囤着重要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③暂停补货→分析数据→改设计→下一批改进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④小红书持续发(不卖也要发)→积累品牌认知需要时间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0504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风险分析与对策（下）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4400" y="7132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现金流·品质·唐装试点·自我坚持——每个问题都有预案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137160"/>
            <a:ext cx="8595360" cy="0"/>
          </a:xfrm>
          <a:prstGeom prst="line">
            <a:avLst/>
          </a:prstGeom>
          <a:noFill/>
          <a:ln w="15240">
            <a:solidFill>
              <a:srgbClr val="E8E0D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82880" y="1097280"/>
            <a:ext cx="8778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82880" y="1097280"/>
            <a:ext cx="8778240" cy="45720"/>
          </a:xfrm>
          <a:prstGeom prst="rect">
            <a:avLst/>
          </a:prstGeom>
          <a:solidFill>
            <a:srgbClr val="C9983E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1143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💰 现金流断裂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0" y="11704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概率低-中·余额&lt;¥5,000警报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65760" y="138988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立即停止所有非必要支出→加速回款(催工厂发货·夜市天天摆·朋友圈特价预售·接定制收全款)→短期周转(跟工厂商量尾款分期·景区改周结)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预警信号：余额&lt;¥5,000且下一笔收入在2周后=红色警报·连续2周零收入=黄色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182880" y="2103120"/>
            <a:ext cx="8778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82880" y="2103120"/>
            <a:ext cx="8778240" cy="45720"/>
          </a:xfrm>
          <a:prstGeom prst="rect">
            <a:avLst/>
          </a:prstGeom>
          <a:solidFill>
            <a:srgbClr val="1B5E7B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" y="2148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大货品质不合格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0" y="21762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概率低(选了高评分工厂)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65760" y="2395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立即拍照取证(样品vs大货对比)→统计瑕疵比例(5%以内正常·5-15%退差额+补发·&gt;15%整批退回重做)→1688平台介入(有实物证据倾向于买家)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预防：打样确认后再下大货·要求工厂寄「产前样」·首次走1688(有保障)·保留所有聊天记录+照片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82880" y="3108960"/>
            <a:ext cx="8778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82880" y="3108960"/>
            <a:ext cx="8778240" cy="45720"/>
          </a:xfrm>
          <a:prstGeom prst="rect">
            <a:avLst/>
          </a:prstGeom>
          <a:solidFill>
            <a:srgbClr val="0D7B6B"/>
          </a:solidFill>
          <a:ln/>
        </p:spPr>
      </p:sp>
      <p:sp>
        <p:nvSpPr>
          <p:cNvPr id="20" name="Text 17"/>
          <p:cNvSpPr/>
          <p:nvPr/>
        </p:nvSpPr>
        <p:spPr>
          <a:xfrm>
            <a:off x="365760" y="3154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👘 唐装店试点失败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0" y="31821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概率中等·1月0销量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365760" y="34015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区分原因：店员没推→给店员个人激励¥10-20/件(不是给店)·卖够5件送1件给她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客户不买→直接加微信问「发钗贵吗？款式不喜欢？」根据反馈调整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试点失败≠放弃→换一家唐装店再试·改线上做唐装配搭内容(小红书推穿搭)·参加汉服市集面对面接触用户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182880" y="4114800"/>
            <a:ext cx="8778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182880" y="4114800"/>
            <a:ext cx="8778240" cy="45720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25" name="Text 22"/>
          <p:cNvSpPr/>
          <p:nvPr/>
        </p:nvSpPr>
        <p:spPr>
          <a:xfrm>
            <a:off x="365760" y="4160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💪 自己坚持不下去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572000" y="4187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第4-6周最容易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365760" y="44074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回头看：第1周什么都没有→第6周有了15款设计+样品+小红书账号+工厂在打样+夜市摆了几次→这不是「没有成果」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降低期望：第1年的成功=不是赚多少钱=跑通模式(产品有人买+工厂能交货+妇女能出活)+还活着(账户余额&gt;0)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找人聊：跟做唐装的合作方聊(他们怎么熬过第一年)·跟小红书手工博主聊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太累就停1周：不叫失败，叫调整节奏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B5E7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90天执行清单（第1-8周）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4400" y="7132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轨道B先行(零现金)→轨道A启动(第5周)→工厂打样+下单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137160"/>
            <a:ext cx="8595360" cy="0"/>
          </a:xfrm>
          <a:prstGeom prst="line">
            <a:avLst/>
          </a:prstGeom>
          <a:noFill/>
          <a:ln w="15240">
            <a:solidFill>
              <a:srgbClr val="E8E0D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37160" y="1005840"/>
            <a:ext cx="88696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37160" y="1005840"/>
            <a:ext cx="8869680" cy="45720"/>
          </a:xfrm>
          <a:prstGeom prst="rect">
            <a:avLst/>
          </a:prstGeom>
          <a:solidFill>
            <a:srgbClr val="0D7B6B"/>
          </a:solidFill>
          <a:ln/>
        </p:spPr>
      </p:sp>
      <p:sp>
        <p:nvSpPr>
          <p:cNvPr id="10" name="Text 7"/>
          <p:cNvSpPr/>
          <p:nvPr/>
        </p:nvSpPr>
        <p:spPr>
          <a:xfrm>
            <a:off x="320040" y="10241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第1周 轨道B先行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20040" y="126187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淘宝下单手工材料(石膏/香囊/蜡烛¥1,500)·买拍摄道具(背景布/底座¥50)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小红书注册·写好简介·去广胜寺拍素材(飞虹塔/壁画/环境)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材料到货→做石膏牌5个+香囊5个+蜡烛3个→拍照·发小红书第一条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37160" y="1691640"/>
            <a:ext cx="88696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37160" y="1691640"/>
            <a:ext cx="8869680" cy="45720"/>
          </a:xfrm>
          <a:prstGeom prst="rect">
            <a:avLst/>
          </a:prstGeom>
          <a:solidFill>
            <a:srgbClr val="0D7B6B"/>
          </a:solidFill>
          <a:ln/>
        </p:spPr>
      </p:sp>
      <p:sp>
        <p:nvSpPr>
          <p:cNvPr id="14" name="Text 11"/>
          <p:cNvSpPr/>
          <p:nvPr/>
        </p:nvSpPr>
        <p:spPr>
          <a:xfrm>
            <a:off x="320040" y="17099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第2周 样品优化+首次夜市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0040" y="194767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优化上周不满意的样品(重做)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设计琉璃发钗样品(UV树脂+珠光粉)·联系唐装合作方约见面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小红书日更·晚上第一次洪洞夜市摆摊(带石膏牌+香囊+蜡烛)·加微信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137160" y="2377440"/>
            <a:ext cx="88696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137160" y="2377440"/>
            <a:ext cx="8869680" cy="45720"/>
          </a:xfrm>
          <a:prstGeom prst="rect">
            <a:avLst/>
          </a:prstGeom>
          <a:solidFill>
            <a:srgbClr val="1B5E7B"/>
          </a:solidFill>
          <a:ln/>
        </p:spPr>
      </p:sp>
      <p:sp>
        <p:nvSpPr>
          <p:cNvPr id="18" name="Text 15"/>
          <p:cNvSpPr/>
          <p:nvPr/>
        </p:nvSpPr>
        <p:spPr>
          <a:xfrm>
            <a:off x="320040" y="23957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第3周 开始接单+准备设计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20040" y="263347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补货材料·有轨B订单→开始做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找外包设计师(猪八戒/闲鱼/朋友圈)·整理15款轨A设计Brief(尺寸/颜色/风格/文案)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联系3-5个设计师·比价·选1个付50%定金·小红书持续日更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37160" y="3063240"/>
            <a:ext cx="88696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37160" y="3063240"/>
            <a:ext cx="8869680" cy="45720"/>
          </a:xfrm>
          <a:prstGeom prst="rect">
            <a:avLst/>
          </a:prstGeom>
          <a:solidFill>
            <a:srgbClr val="1B5E7B"/>
          </a:solidFill>
          <a:ln/>
        </p:spPr>
      </p:sp>
      <p:sp>
        <p:nvSpPr>
          <p:cNvPr id="22" name="Text 19"/>
          <p:cNvSpPr/>
          <p:nvPr/>
        </p:nvSpPr>
        <p:spPr>
          <a:xfrm>
            <a:off x="320040" y="30815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第4周 设计定稿+工厂询价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20040" y="331927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跟设计师反复沟通→确认15款设计稿→导出AI/CDR矢量文件→付尾款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1688搜索供应商(冰箱贴/书签/明信片/贴纸/手账/帆布袋/丝巾/印章各问3-5家)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发询价模板·整理报价比价·每品类选2-3家打样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137160" y="3749040"/>
            <a:ext cx="88696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137160" y="3749040"/>
            <a:ext cx="8869680" cy="45720"/>
          </a:xfrm>
          <a:prstGeom prst="rect">
            <a:avLst/>
          </a:prstGeom>
          <a:solidFill>
            <a:srgbClr val="C9983E"/>
          </a:solidFill>
          <a:ln/>
        </p:spPr>
      </p:sp>
      <p:sp>
        <p:nvSpPr>
          <p:cNvPr id="26" name="Text 23"/>
          <p:cNvSpPr/>
          <p:nvPr/>
        </p:nvSpPr>
        <p:spPr>
          <a:xfrm>
            <a:off x="320040" y="37673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第5-6周 打样+跟进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20040" y="400507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付打样费→发设计稿→等样品(每天催一次进度)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收到打样→立刻检查品质→不行的换工厂重新打·可以的确认供应商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轨道B持续发内容+接单+夜市摆摊·小红书第22-28条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137160" y="4434840"/>
            <a:ext cx="88696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137160" y="4434840"/>
            <a:ext cx="8869680" cy="45720"/>
          </a:xfrm>
          <a:prstGeom prst="rect">
            <a:avLst/>
          </a:prstGeom>
          <a:solidFill>
            <a:srgbClr val="C9983E"/>
          </a:solidFill>
          <a:ln/>
        </p:spPr>
      </p:sp>
      <p:sp>
        <p:nvSpPr>
          <p:cNvPr id="30" name="Text 27"/>
          <p:cNvSpPr/>
          <p:nvPr/>
        </p:nvSpPr>
        <p:spPr>
          <a:xfrm>
            <a:off x="320040" y="44531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第7-8周 下单+到货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320040" y="469087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下第一批大货(冰箱贴¥3,500+书签¥1,500+明信片¥2,000+手账¥800=¥7,800)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采购包装材料(自购比工厂便宜30-50%)·准备景区展架+产品图册+报价单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大货到→验货→入库·带样品+展架→拜访广胜寺景区商店→谈判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B5E7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90天执行清单（第9-12周）+ 每日时间分配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4400" y="7132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双轨试跑→数据分析→三月总结→决定下一步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137160"/>
            <a:ext cx="8595360" cy="0"/>
          </a:xfrm>
          <a:prstGeom prst="line">
            <a:avLst/>
          </a:prstGeom>
          <a:noFill/>
          <a:ln w="15240">
            <a:solidFill>
              <a:srgbClr val="E8E0D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37160" y="1005840"/>
            <a:ext cx="88696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37160" y="1005840"/>
            <a:ext cx="8869680" cy="45720"/>
          </a:xfrm>
          <a:prstGeom prst="rect">
            <a:avLst/>
          </a:prstGeom>
          <a:solidFill>
            <a:srgbClr val="0D7B6B"/>
          </a:solidFill>
          <a:ln/>
        </p:spPr>
      </p:sp>
      <p:sp>
        <p:nvSpPr>
          <p:cNvPr id="10" name="Text 7"/>
          <p:cNvSpPr/>
          <p:nvPr/>
        </p:nvSpPr>
        <p:spPr>
          <a:xfrm>
            <a:off x="320040" y="10241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第9-10周 双轨试跑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20040" y="126187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广胜寺首月试销(如果谈下来)·轨道B培训第1批2-3名妇女(石膏牌+香囊)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数据分析：景区卖得最好的品→追加订单·卖不动的→夜市降价清仓→保本出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第二批下单(帆布袋+丝巾+印章+大槐树品类¥5,960)·拼多多开店(上架¥9.9-38产品)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37160" y="1691640"/>
            <a:ext cx="88696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37160" y="1691640"/>
            <a:ext cx="8869680" cy="45720"/>
          </a:xfrm>
          <a:prstGeom prst="rect">
            <a:avLst/>
          </a:prstGeom>
          <a:solidFill>
            <a:srgbClr val="C9983E"/>
          </a:solidFill>
          <a:ln/>
        </p:spPr>
      </p:sp>
      <p:sp>
        <p:nvSpPr>
          <p:cNvPr id="14" name="Text 11"/>
          <p:cNvSpPr/>
          <p:nvPr/>
        </p:nvSpPr>
        <p:spPr>
          <a:xfrm>
            <a:off x="320040" y="17099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第11-12周 稳定+总结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0040" y="194767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轨道B妇女第一批成品交付→质检→结算·唐装店放样品试点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第三批产品设计(基于前10周数据新增5-8款)·联系大槐树景区(如果广胜寺数据好看)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三个月总结：总销/总支出/现金流/客户反馈→决定第4-6月是继续/调整/转型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137160" y="2606040"/>
            <a:ext cx="886968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20040" y="2651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每日时间分配建议 + 关键原则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20040" y="2926080"/>
            <a:ext cx="8503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全职做(每天8小时)：上午9-12点创作型工作(设计/制作/拍摄)·下午2-5点运营型(联系工厂/小红书/下单)·晚上7-9点灵活(夜市/回复客户/补内容)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每周五/六晚：夜市摆摊(至少每两周1次)·每周日晚必须做三件事：①记账②总结当周③规划下周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兼职做(每天3-4小时)：时间压缩到50%→12周变24周·重点：轨道B先启动→轨道A等轨道B有收入再启动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最重要的原则：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第1周就可以开始(买材料→做样品→发小红书)——不需要等资金到位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首批只要200件/款(卖不动也只压几千块)——不囤货、不赌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每周六记账(不知道花了多少钱=不知道还能撑多久)——保持财务清醒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三月后月销&lt;¥5,000→停下来找原因(不是继续投钱)——敢于止损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914400"/>
            <a:ext cx="5029200" cy="5029200"/>
          </a:xfrm>
          <a:prstGeom prst="ellipse">
            <a:avLst/>
          </a:prstGeom>
          <a:solidFill>
            <a:srgbClr val="C9983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286000"/>
            <a:ext cx="2743200" cy="2743200"/>
          </a:xfrm>
          <a:prstGeom prst="ellipse">
            <a:avLst/>
          </a:prstGeom>
          <a:solidFill>
            <a:srgbClr val="0D7B6B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2103120"/>
            <a:ext cx="1828800" cy="0"/>
          </a:xfrm>
          <a:prstGeom prst="line">
            <a:avLst/>
          </a:prstGeom>
          <a:noFill/>
          <a:ln w="25400">
            <a:solidFill>
              <a:srgbClr val="C998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7315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998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最后的实话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6858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9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这个计划的底线：
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三个月后两轨合计月销不到¥5,000
→ 说明产品/渠道/定价至少有一个方向错了
→ 停下来调整，不是继续往里投钱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99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这个计划的上限：
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三个月数据超预期（月销¥10,000+）
→ 说明方向对了，加速扩品类和渠道
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不管上限还是底线，我们都能接受。
</a:t>
            </a: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rgbClr val="C99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最重要的是——第1周就迈出第一步。</a:t>
            </a: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rgbClr val="C99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打开淘宝，买材料，做样品，发小红书。</a:t>
            </a: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rgbClr val="C99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商业计划书和落地手册已经准备好了，</a:t>
            </a: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rgbClr val="C99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剩下的，就是开始。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启动¥30,000 | 第1周可开始 | 第5月打平 | 第10月现金流转正 | 第12月月利润¥11,500 | 配套落地执行手册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手作文创·双轨商业计划书 V2.1 详细版</dc:title>
  <dc:subject>PptxGenJS Presentation</dc:subject>
  <dc:creator>Handmade Cultural Creative</dc:creator>
  <cp:lastModifiedBy>Handmade Cultural Creative</cp:lastModifiedBy>
  <cp:revision>1</cp:revision>
  <dcterms:created xsi:type="dcterms:W3CDTF">2026-06-18T10:04:56Z</dcterms:created>
  <dcterms:modified xsi:type="dcterms:W3CDTF">2026-06-18T10:04:56Z</dcterms:modified>
</cp:coreProperties>
</file>